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font" Target="fonts/Play-bold.fntdata"/><Relationship Id="rId12" Type="http://schemas.openxmlformats.org/officeDocument/2006/relationships/slide" Target="slides/slide6.xml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7a8e19655_2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97a8e19655_2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Uploaded file CSCI_6960__Project_Proposal_G1 (2).pdf, page 1 (title, abstract, authors, and overall project framing).</a:t>
            </a:r>
            <a:endParaRPr/>
          </a:p>
        </p:txBody>
      </p:sp>
      <p:sp>
        <p:nvSpPr>
          <p:cNvPr id="55" name="Google Shape;55;g397a8e19655_2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7a8e19655_2_1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97a8e19655_2_1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Slide content synthesized from the full paper structure in CSCI_6960__Project_Proposal_G1 (2).pdf, pages 1-10.</a:t>
            </a:r>
            <a:endParaRPr/>
          </a:p>
        </p:txBody>
      </p:sp>
      <p:sp>
        <p:nvSpPr>
          <p:cNvPr id="71" name="Google Shape;71;g397a8e19655_2_1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7a8e19655_2_5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g397a8e19655_2_5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1-2: introduction and motivation for heterogeneity, low-rank updates, and “silent cancellation”.</a:t>
            </a:r>
            <a:endParaRPr/>
          </a:p>
        </p:txBody>
      </p:sp>
      <p:sp>
        <p:nvSpPr>
          <p:cNvPr id="104" name="Google Shape;104;g397a8e19655_2_5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7a8e19655_2_6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g397a8e19655_2_6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1-2: related work on FedAvg, FedProx, LoRA, FlexLoRA, and FedSVD.</a:t>
            </a:r>
            <a:endParaRPr/>
          </a:p>
        </p:txBody>
      </p:sp>
      <p:sp>
        <p:nvSpPr>
          <p:cNvPr id="122" name="Google Shape;122;g397a8e19655_2_6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a8e19655_2_9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397a8e19655_2_9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2-3: proposed objective and algorithm.</a:t>
            </a:r>
            <a:endParaRPr/>
          </a:p>
        </p:txBody>
      </p:sp>
      <p:sp>
        <p:nvSpPr>
          <p:cNvPr id="148" name="Google Shape;148;g397a8e19655_2_9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7a8e19655_2_13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g397a8e19655_2_13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3-5: theoretical analysis plan and Assumptions 1-4.</a:t>
            </a:r>
            <a:endParaRPr/>
          </a:p>
        </p:txBody>
      </p:sp>
      <p:sp>
        <p:nvSpPr>
          <p:cNvPr id="188" name="Google Shape;188;g397a8e19655_2_13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7a8e19655_2_17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g397a8e19655_2_17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4-5: Theorems 1-3 and the interpretation of the μ-dependent misalignment penalty.</a:t>
            </a:r>
            <a:endParaRPr/>
          </a:p>
        </p:txBody>
      </p:sp>
      <p:sp>
        <p:nvSpPr>
          <p:cNvPr id="229" name="Google Shape;229;g397a8e19655_2_17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7a8e19655_2_20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g397a8e19655_2_20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 3: proposed algorithm and local objective.</a:t>
            </a:r>
            <a:endParaRPr/>
          </a:p>
        </p:txBody>
      </p:sp>
      <p:sp>
        <p:nvSpPr>
          <p:cNvPr id="259" name="Google Shape;259;g397a8e19655_2_20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97a8e19655_2_24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97a8e19655_2_24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5-6: experimental plan, hyperparameters, and alignment diagnostics.</a:t>
            </a:r>
            <a:endParaRPr/>
          </a:p>
        </p:txBody>
      </p:sp>
      <p:sp>
        <p:nvSpPr>
          <p:cNvPr id="307" name="Google Shape;307;g397a8e19655_2_24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7a8e19655_2_32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g397a8e19655_2_32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 6 and page 8: definitions of evaluation metrics and interpretation.</a:t>
            </a:r>
            <a:endParaRPr/>
          </a:p>
        </p:txBody>
      </p:sp>
      <p:sp>
        <p:nvSpPr>
          <p:cNvPr id="390" name="Google Shape;390;g397a8e19655_2_32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97a8e19655_2_36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97a8e19655_2_36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6-7: Table 2 and Figure 1 for seed-42 accuracy metrics.</a:t>
            </a:r>
            <a:endParaRPr/>
          </a:p>
        </p:txBody>
      </p:sp>
      <p:sp>
        <p:nvSpPr>
          <p:cNvPr id="429" name="Google Shape;429;g397a8e19655_2_36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7a8e19655_5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g397a8e19655_5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6-7: Table 2 and Figure 1 for seed-42 accuracy metrics.</a:t>
            </a:r>
            <a:endParaRPr/>
          </a:p>
        </p:txBody>
      </p:sp>
      <p:sp>
        <p:nvSpPr>
          <p:cNvPr id="453" name="Google Shape;453;g397a8e19655_5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97a8e19655_2_39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g397a8e19655_2_39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8-9: Figure 2, Table 3, and Figure 3 for alignment metrics and final loss.</a:t>
            </a:r>
            <a:endParaRPr/>
          </a:p>
        </p:txBody>
      </p:sp>
      <p:sp>
        <p:nvSpPr>
          <p:cNvPr id="469" name="Google Shape;469;g397a8e19655_2_39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97a8e19655_2_41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g397a8e19655_2_41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CSCI_6960__Project_Proposal_G1 (2).pdf, pages 9-10: Table 4, Figure 4, current status, next steps, and preliminary nature of the results.</a:t>
            </a:r>
            <a:endParaRPr/>
          </a:p>
        </p:txBody>
      </p:sp>
      <p:sp>
        <p:nvSpPr>
          <p:cNvPr id="490" name="Google Shape;490;g397a8e19655_2_41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97a8e19655_2_48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g397a8e19655_2_48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Summary synthesized from CSCI_6960__Project_Proposal_G1 (2).pdf, pages 1-10, especially the conclusion and current-status sections.</a:t>
            </a:r>
            <a:endParaRPr/>
          </a:p>
        </p:txBody>
      </p:sp>
      <p:sp>
        <p:nvSpPr>
          <p:cNvPr id="566" name="Google Shape;566;g397a8e19655_2_48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d916aa30e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d916aa30e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B5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102B52"/>
          </a:solidFill>
          <a:ln cap="flat" cmpd="sng" w="12700">
            <a:solidFill>
              <a:srgbClr val="10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45768" y="656079"/>
            <a:ext cx="800203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b="1" lang="en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Subspace-Constrained</a:t>
            </a:r>
            <a:r>
              <a:rPr lang="e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Federated Learning</a:t>
            </a:r>
            <a:r>
              <a:rPr lang="en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with Low-Rank Adaptation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041169" y="2466385"/>
            <a:ext cx="1938944" cy="162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Neranjan Senarath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3602414" y="2396246"/>
            <a:ext cx="1938943" cy="30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Rohit Muralitharan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6719109" y="2487584"/>
            <a:ext cx="12344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Sadia Asif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1132611" y="2780293"/>
            <a:ext cx="1608513" cy="2225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AE7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D2DAE7"/>
                </a:solidFill>
                <a:latin typeface="Arial"/>
                <a:ea typeface="Arial"/>
                <a:cs typeface="Arial"/>
                <a:sym typeface="Arial"/>
              </a:rPr>
              <a:t>Department of ECSE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3182735" y="2810530"/>
            <a:ext cx="2372245" cy="1620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AE7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D2DAE7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6159730" y="2700491"/>
            <a:ext cx="2337955" cy="302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AE7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D2DAE7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2545252" y="3559921"/>
            <a:ext cx="3803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DAE7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D2DAE7"/>
                </a:solidFill>
                <a:latin typeface="Arial"/>
                <a:ea typeface="Arial"/>
                <a:cs typeface="Arial"/>
                <a:sym typeface="Arial"/>
              </a:rPr>
              <a:t>CSCI 6962 Group G1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8846820" y="4896612"/>
            <a:ext cx="82296" cy="82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DAE7"/>
              </a:buClr>
              <a:buSzPts val="600"/>
              <a:buFont typeface="Arial"/>
              <a:buNone/>
            </a:pPr>
            <a:r>
              <a:rPr lang="en" sz="600">
                <a:solidFill>
                  <a:srgbClr val="D2DAE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2467320" y="4228683"/>
            <a:ext cx="380307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2DAE7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D2DAE7"/>
                </a:solidFill>
                <a:latin typeface="Arial"/>
                <a:ea typeface="Arial"/>
                <a:cs typeface="Arial"/>
                <a:sym typeface="Arial"/>
              </a:rPr>
              <a:t>Rensselaer Polytechnic Institute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Talk roadmap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16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6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377190" y="1062990"/>
            <a:ext cx="1426464" cy="3188970"/>
          </a:xfrm>
          <a:prstGeom prst="roundRect">
            <a:avLst>
              <a:gd fmla="val 3846" name="adj"/>
            </a:avLst>
          </a:prstGeom>
          <a:solidFill>
            <a:srgbClr val="FDECE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500634" y="1248156"/>
            <a:ext cx="178308" cy="178308"/>
          </a:xfrm>
          <a:prstGeom prst="ellipse">
            <a:avLst/>
          </a:prstGeom>
          <a:solidFill>
            <a:srgbClr val="E67D8A"/>
          </a:solidFill>
          <a:ln cap="flat" cmpd="sng" w="12700">
            <a:solidFill>
              <a:srgbClr val="E6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500634" y="1255014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20090" y="1234440"/>
            <a:ext cx="8915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Problem setting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00634" y="1543050"/>
            <a:ext cx="1179576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Why LoRA-based federated learning can suffer under non-IID client data.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125980" y="1062990"/>
            <a:ext cx="1426464" cy="3188970"/>
          </a:xfrm>
          <a:prstGeom prst="roundRect">
            <a:avLst>
              <a:gd fmla="val 3846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249424" y="1248156"/>
            <a:ext cx="178308" cy="178308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249424" y="1255014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2468880" y="1234440"/>
            <a:ext cx="8915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249424" y="1543050"/>
            <a:ext cx="1179576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Subspace-regularized objective, shared reference basis, and training loop.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874770" y="1062990"/>
            <a:ext cx="1426464" cy="3188970"/>
          </a:xfrm>
          <a:prstGeom prst="roundRect">
            <a:avLst>
              <a:gd fmla="val 3846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998214" y="1248156"/>
            <a:ext cx="178308" cy="178308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998214" y="1255014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217670" y="1234440"/>
            <a:ext cx="8915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998214" y="1543050"/>
            <a:ext cx="1179576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How the paper frames silent cancellation and the role of the alignment parameter μ.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623560" y="1062990"/>
            <a:ext cx="1426464" cy="3188970"/>
          </a:xfrm>
          <a:prstGeom prst="roundRect">
            <a:avLst>
              <a:gd fmla="val 3846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747004" y="1248156"/>
            <a:ext cx="178308" cy="178308"/>
          </a:xfrm>
          <a:prstGeom prst="ellipse">
            <a:avLst/>
          </a:prstGeom>
          <a:solidFill>
            <a:srgbClr val="59C4B8"/>
          </a:solidFill>
          <a:ln cap="flat" cmpd="sng" w="12700">
            <a:solidFill>
              <a:srgbClr val="59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747004" y="1255014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966460" y="1234440"/>
            <a:ext cx="8915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Experiments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747004" y="1543050"/>
            <a:ext cx="1179576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Dataset, model choices, baselines, hyperparameters, and evaluation diagnostics.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372350" y="1062990"/>
            <a:ext cx="1426464" cy="3188970"/>
          </a:xfrm>
          <a:prstGeom prst="roundRect">
            <a:avLst>
              <a:gd fmla="val 3846" name="adj"/>
            </a:avLst>
          </a:prstGeom>
          <a:solidFill>
            <a:srgbClr val="FFF5E8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495794" y="1248156"/>
            <a:ext cx="178308" cy="178308"/>
          </a:xfrm>
          <a:prstGeom prst="ellipse">
            <a:avLst/>
          </a:prstGeom>
          <a:solidFill>
            <a:srgbClr val="F1B464"/>
          </a:solidFill>
          <a:ln cap="flat" cmpd="sng" w="12700">
            <a:solidFill>
              <a:srgbClr val="F1B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7495794" y="1255014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7715250" y="1234440"/>
            <a:ext cx="89154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Results + caveats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7495794" y="1543050"/>
            <a:ext cx="1179576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Complete 3-seed results on both models, the model-dependence finding, and the consistent basis overlap result.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Motivation: why LoRA-based FL can break under heterogeneity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7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288035" y="720090"/>
            <a:ext cx="8531353" cy="404622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59486" y="877824"/>
            <a:ext cx="2128439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80060" y="1524483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71321" y="1322429"/>
            <a:ext cx="755599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Arial"/>
              <a:buNone/>
            </a:pPr>
            <a:r>
              <a:rPr lang="en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Federated learning enables privacy-preserving training without sharing raw client data.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80060" y="2288243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671321" y="2082503"/>
            <a:ext cx="6694932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LoRA makes large-model fine-tuning practical by constraining updates to a low-rank form ΔW = BA.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480060" y="2976629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671321" y="2770889"/>
            <a:ext cx="6173739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But under non-IID client data, different clients may span different low-rank subspaces.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480060" y="3665015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71321" y="3459275"/>
            <a:ext cx="6988935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Naively averaging these updates can reduce global progress even when each client improves locally.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Where this project sits in prior work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18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8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377190" y="857250"/>
            <a:ext cx="4011930" cy="1474470"/>
          </a:xfrm>
          <a:prstGeom prst="roundRect">
            <a:avLst>
              <a:gd fmla="val 3721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28066" y="953263"/>
            <a:ext cx="857250" cy="233171"/>
          </a:xfrm>
          <a:prstGeom prst="roundRect">
            <a:avLst>
              <a:gd fmla="val 28571" name="adj"/>
            </a:avLst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28066" y="1008126"/>
            <a:ext cx="85725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FedAvg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28066" y="1323594"/>
            <a:ext cx="366903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Periodic averaging of local model updates. Simple and communication-efficient, but unstable under heterogeneous local objectives.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4766310" y="857250"/>
            <a:ext cx="4011930" cy="1474470"/>
          </a:xfrm>
          <a:prstGeom prst="roundRect">
            <a:avLst>
              <a:gd fmla="val 3721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917186" y="960120"/>
            <a:ext cx="857250" cy="233171"/>
          </a:xfrm>
          <a:prstGeom prst="roundRect">
            <a:avLst>
              <a:gd fmla="val 28571" name="adj"/>
            </a:avLst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917186" y="1008126"/>
            <a:ext cx="85725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FedProx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4917186" y="1323594"/>
            <a:ext cx="366903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Adds a proximal term to control client drift. The proposed paper borrows this idea, but applies it to low-rank geometry.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377190" y="2777490"/>
            <a:ext cx="4011930" cy="1474470"/>
          </a:xfrm>
          <a:prstGeom prst="roundRect">
            <a:avLst>
              <a:gd fmla="val 3721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497722" y="2874278"/>
            <a:ext cx="917937" cy="232396"/>
          </a:xfrm>
          <a:prstGeom prst="roundRect">
            <a:avLst>
              <a:gd fmla="val 28571" name="adj"/>
            </a:avLst>
          </a:prstGeom>
          <a:solidFill>
            <a:srgbClr val="59C4B8"/>
          </a:solidFill>
          <a:ln cap="flat" cmpd="sng" w="12700">
            <a:solidFill>
              <a:srgbClr val="59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28066" y="2928366"/>
            <a:ext cx="85725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LoRA in FL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28066" y="3243834"/>
            <a:ext cx="366903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Represent update as ΔW = BA so only low-rank factors are trained and communicated.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766310" y="2777490"/>
            <a:ext cx="4011930" cy="1474470"/>
          </a:xfrm>
          <a:prstGeom prst="roundRect">
            <a:avLst>
              <a:gd fmla="val 3721" name="adj"/>
            </a:avLst>
          </a:prstGeom>
          <a:solidFill>
            <a:srgbClr val="FFF5E8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917186" y="2894077"/>
            <a:ext cx="1364354" cy="233171"/>
          </a:xfrm>
          <a:prstGeom prst="roundRect">
            <a:avLst>
              <a:gd fmla="val 28571" name="adj"/>
            </a:avLst>
          </a:prstGeom>
          <a:solidFill>
            <a:srgbClr val="F1B464"/>
          </a:solidFill>
          <a:ln cap="flat" cmpd="sng" w="12700">
            <a:solidFill>
              <a:srgbClr val="F1B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917186" y="2928366"/>
            <a:ext cx="106739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FedSVD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917186" y="3243834"/>
            <a:ext cx="366903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Existing federated LoRA baselines emphasize aggregation and orthogonalization, but not explicit subspace regularization.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1543049" y="4491989"/>
            <a:ext cx="6667141" cy="334489"/>
          </a:xfrm>
          <a:prstGeom prst="roundRect">
            <a:avLst>
              <a:gd fmla="val 19048" name="adj"/>
            </a:avLst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1680210" y="4567428"/>
            <a:ext cx="57950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Gap identified by the paper: methods address magnitude drift or redistribution, but do not directly encourage client LoRA updates to stay in a compatible shared subspace.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Method: subspace-regularized LoRA objective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19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9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308610" y="754380"/>
            <a:ext cx="418338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80060" y="91211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Client objective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924" y="1220724"/>
            <a:ext cx="366903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534924" y="2057400"/>
            <a:ext cx="1179576" cy="1062990"/>
          </a:xfrm>
          <a:prstGeom prst="roundRect">
            <a:avLst>
              <a:gd fmla="val 5517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850392" y="2132838"/>
            <a:ext cx="562356" cy="195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Task loss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48640" y="2489454"/>
            <a:ext cx="1138428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Preserves each client’s local fine-tuning objective.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879092" y="2057400"/>
            <a:ext cx="1179576" cy="1062990"/>
          </a:xfrm>
          <a:prstGeom prst="roundRect">
            <a:avLst>
              <a:gd fmla="val 5517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1899666" y="2173986"/>
            <a:ext cx="109728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Alignment penalty μ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1858518" y="2482596"/>
            <a:ext cx="1234440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Pulls the update toward the current global reference subspace.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243834" y="2057400"/>
            <a:ext cx="1179576" cy="1062990"/>
          </a:xfrm>
          <a:prstGeom prst="roundRect">
            <a:avLst>
              <a:gd fmla="val 5517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250692" y="2112264"/>
            <a:ext cx="1193292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Factor regularization λ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236976" y="2455164"/>
            <a:ext cx="1193292" cy="534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Keeps low-rank factors bounded and well-behaved.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534924" y="3394710"/>
            <a:ext cx="3806190" cy="857250"/>
          </a:xfrm>
          <a:prstGeom prst="roundRect">
            <a:avLst>
              <a:gd fmla="val 6400" name="adj"/>
            </a:avLst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72084" y="3634740"/>
            <a:ext cx="332613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i="1" lang="en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Interpretation: FedProx-style regularization, but applied to the geometry of the low-rank subspace - not just update magnitude.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629150" y="754380"/>
            <a:ext cx="421767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800600" y="905256"/>
            <a:ext cx="19133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Why each term matters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834890" y="1234440"/>
            <a:ext cx="178308" cy="178308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834890" y="1241298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088636" y="1248156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Global reference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088636" y="1412748"/>
            <a:ext cx="3291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Server computes a shared low-rank basis via SVD and broadcasts it each round.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4834890" y="1906524"/>
            <a:ext cx="178308" cy="178308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834890" y="1913382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088636" y="1899666"/>
            <a:ext cx="1803654" cy="1577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Regularized local adaptation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088636" y="2084832"/>
            <a:ext cx="32918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client can still personalize to its own data, but stays near the shared subspace.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834890" y="2571750"/>
            <a:ext cx="178308" cy="178308"/>
          </a:xfrm>
          <a:prstGeom prst="ellipse">
            <a:avLst/>
          </a:prstGeom>
          <a:solidFill>
            <a:srgbClr val="59C4B8"/>
          </a:solidFill>
          <a:ln cap="flat" cmpd="sng" w="12700">
            <a:solidFill>
              <a:srgbClr val="59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4834890" y="2578608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088636" y="2592324"/>
            <a:ext cx="180365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Constructive aggregation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088636" y="2756916"/>
            <a:ext cx="33604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Combined update should preserve more signal because clients move in more compatible directions.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4834890" y="3236976"/>
            <a:ext cx="178308" cy="178308"/>
          </a:xfrm>
          <a:prstGeom prst="ellipse">
            <a:avLst/>
          </a:prstGeom>
          <a:solidFill>
            <a:srgbClr val="F1B464"/>
          </a:solidFill>
          <a:ln cap="flat" cmpd="sng" w="12700">
            <a:solidFill>
              <a:srgbClr val="F1B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834890" y="3243834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088636" y="3250692"/>
            <a:ext cx="960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Key tradeoff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088636" y="3415284"/>
            <a:ext cx="33604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If μ is too small, misalignment persists; if μ is too large, local flexibility may be overly restricted.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Theoretical analysis plan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191;p20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0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29184" y="768096"/>
            <a:ext cx="3806190" cy="3977640"/>
          </a:xfrm>
          <a:prstGeom prst="roundRect">
            <a:avLst>
              <a:gd fmla="val 1441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93776" y="932688"/>
            <a:ext cx="2407158" cy="116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Main analytical questions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34924" y="1409671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44652" y="1255014"/>
            <a:ext cx="328498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How can misaligned low-rank client updates reduce the norm of the aggregated update?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31495" y="2283714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44652" y="2197989"/>
            <a:ext cx="328498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Can subspace alignment improve convergence under standard FL assumptions such as smoothness and bounded heterogeneity?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34924" y="3306965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644652" y="3127248"/>
            <a:ext cx="3284982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What role does μ play in controlling directional drift in the low-rank manifold?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306824" y="768096"/>
            <a:ext cx="452628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478274" y="932688"/>
            <a:ext cx="3854196" cy="34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Assumptions used in the convergence discussion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512564" y="1165860"/>
            <a:ext cx="178308" cy="178308"/>
          </a:xfrm>
          <a:prstGeom prst="ellipse">
            <a:avLst/>
          </a:prstGeom>
          <a:solidFill>
            <a:srgbClr val="E67D8A"/>
          </a:solidFill>
          <a:ln cap="flat" cmpd="sng" w="12700">
            <a:solidFill>
              <a:srgbClr val="E6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512564" y="1172718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766310" y="1179576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Smoothness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766310" y="1371600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local loss is L-smooth.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4766310" y="188595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0"/>
          <p:cNvSpPr/>
          <p:nvPr/>
        </p:nvSpPr>
        <p:spPr>
          <a:xfrm>
            <a:off x="4512564" y="1988820"/>
            <a:ext cx="178308" cy="178308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512564" y="1995678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766310" y="1981962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Bounded heterogeneity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766310" y="2194560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Client gradients differ from the global gradient by at most σ² in expectation.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0"/>
          <p:cNvCxnSpPr/>
          <p:nvPr/>
        </p:nvCxnSpPr>
        <p:spPr>
          <a:xfrm>
            <a:off x="4766310" y="270891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20"/>
          <p:cNvSpPr/>
          <p:nvPr/>
        </p:nvSpPr>
        <p:spPr>
          <a:xfrm>
            <a:off x="4512564" y="2811780"/>
            <a:ext cx="178308" cy="178308"/>
          </a:xfrm>
          <a:prstGeom prst="ellipse">
            <a:avLst/>
          </a:prstGeom>
          <a:solidFill>
            <a:srgbClr val="59C4B8"/>
          </a:solidFill>
          <a:ln cap="flat" cmpd="sng" w="12700">
            <a:solidFill>
              <a:srgbClr val="59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512564" y="2818638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766310" y="2818638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Bounded variance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4766310" y="2990088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Stochastic gradients have variance bounded by ξ².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0"/>
          <p:cNvCxnSpPr/>
          <p:nvPr/>
        </p:nvCxnSpPr>
        <p:spPr>
          <a:xfrm>
            <a:off x="4766310" y="363474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0"/>
          <p:cNvSpPr/>
          <p:nvPr/>
        </p:nvSpPr>
        <p:spPr>
          <a:xfrm>
            <a:off x="4512564" y="3723894"/>
            <a:ext cx="178308" cy="178308"/>
          </a:xfrm>
          <a:prstGeom prst="ellipse">
            <a:avLst/>
          </a:prstGeom>
          <a:solidFill>
            <a:srgbClr val="F1B464"/>
          </a:solidFill>
          <a:ln cap="flat" cmpd="sng" w="12700">
            <a:solidFill>
              <a:srgbClr val="F1B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4512564" y="3737610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766310" y="3730752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Bounded low-rank factors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766310" y="3922776"/>
            <a:ext cx="35661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Frobenius norms of A_k and B_k remain bounded.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1862" y="1550434"/>
            <a:ext cx="2915057" cy="328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5377" y="2401709"/>
            <a:ext cx="2186293" cy="27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567" y="3224048"/>
            <a:ext cx="1886213" cy="357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49099" y="4177645"/>
            <a:ext cx="2200582" cy="285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Main Theoretical results 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21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08610" y="870966"/>
            <a:ext cx="425196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493776" y="918972"/>
            <a:ext cx="319582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Theorem 1: geometric cancellation bound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6" name="Google Shape;2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930" y="1268730"/>
            <a:ext cx="3634740" cy="42519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/>
          <p:nvPr/>
        </p:nvSpPr>
        <p:spPr>
          <a:xfrm>
            <a:off x="562356" y="1940814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672084" y="1885950"/>
            <a:ext cx="33878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cross terms encode how aligned or misaligned client updates are.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562356" y="2414016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72084" y="2359152"/>
            <a:ext cx="33878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Negative cross terms imply cancellation: aggregated progress is smaller than the sum of local progress.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62356" y="2948940"/>
            <a:ext cx="68580" cy="68580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672084" y="2894076"/>
            <a:ext cx="338785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This formalizes the intuition behind “silent cancellation” under heterogeneity.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562356" y="3429000"/>
            <a:ext cx="3497580" cy="857250"/>
          </a:xfrm>
          <a:prstGeom prst="roundRect">
            <a:avLst>
              <a:gd fmla="val 6400" name="adj"/>
            </a:avLst>
          </a:prstGeom>
          <a:solidFill>
            <a:srgbClr val="FDECE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699516" y="3648456"/>
            <a:ext cx="322326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D8A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E67D8A"/>
                </a:solidFill>
                <a:latin typeface="Arial"/>
                <a:ea typeface="Arial"/>
                <a:cs typeface="Arial"/>
                <a:sym typeface="Arial"/>
              </a:rPr>
              <a:t>Key message : the issue is not exploding gradients - it is losing effective update magnitude because directions do not match.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718304" y="864108"/>
            <a:ext cx="411480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4896612" y="1028700"/>
            <a:ext cx="356616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Theorem 2/3: convergence effect of alignment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4044" y="1261872"/>
            <a:ext cx="3600450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/>
          <p:nvPr/>
        </p:nvSpPr>
        <p:spPr>
          <a:xfrm>
            <a:off x="4924044" y="2029968"/>
            <a:ext cx="68580" cy="68580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033772" y="1975104"/>
            <a:ext cx="3456432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familiar FL error terms remain: heterogeneity σ² and stochastic variance ξ²/K.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924044" y="2547747"/>
            <a:ext cx="68580" cy="68580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042916" y="2414016"/>
            <a:ext cx="3456432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Misalignment appears as an extra penalty proportional to 1/μ².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924044" y="3017520"/>
            <a:ext cx="68580" cy="68580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5033772" y="2962656"/>
            <a:ext cx="3456432" cy="336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Increasing μ reduces this penalty, but too much regularization may restrict local adaptation.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4924044" y="3552444"/>
            <a:ext cx="3566160" cy="788670"/>
          </a:xfrm>
          <a:prstGeom prst="roundRect">
            <a:avLst>
              <a:gd fmla="val 6957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074920" y="3778758"/>
            <a:ext cx="325755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C4B8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59C4B8"/>
                </a:solidFill>
                <a:latin typeface="Arial"/>
                <a:ea typeface="Arial"/>
                <a:cs typeface="Arial"/>
                <a:sym typeface="Arial"/>
              </a:rPr>
              <a:t>Compared to standard LoRA-FedAvg, we argue that a fixed cancellation term is replaced by a tunable one.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Training loop: how one federated round works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7955280" y="164592"/>
            <a:ext cx="8915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22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2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329184" y="788670"/>
            <a:ext cx="5212080" cy="3909060"/>
          </a:xfrm>
          <a:prstGeom prst="roundRect">
            <a:avLst>
              <a:gd fmla="val 1404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493776" y="946404"/>
            <a:ext cx="11658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Round t workflow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62356" y="1289304"/>
            <a:ext cx="178308" cy="178308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62356" y="1296162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822960" y="1268730"/>
            <a:ext cx="4251960" cy="562356"/>
          </a:xfrm>
          <a:prstGeom prst="roundRect">
            <a:avLst>
              <a:gd fmla="val 9756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973836" y="1364742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Sample clients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973836" y="1529334"/>
            <a:ext cx="38404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Server selects K participating clients for the round.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651510" y="1920240"/>
            <a:ext cx="171450" cy="150876"/>
          </a:xfrm>
          <a:prstGeom prst="chevron">
            <a:avLst>
              <a:gd fmla="val 50000" name="adj"/>
            </a:avLst>
          </a:prstGeom>
          <a:solidFill>
            <a:srgbClr val="B7C0D4"/>
          </a:solidFill>
          <a:ln cap="flat" cmpd="sng" w="12700">
            <a:solidFill>
              <a:srgbClr val="B7C0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562356" y="2057400"/>
            <a:ext cx="178308" cy="178308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562356" y="2064258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822960" y="2036826"/>
            <a:ext cx="4251960" cy="562356"/>
          </a:xfrm>
          <a:prstGeom prst="roundRect">
            <a:avLst>
              <a:gd fmla="val 9756" name="adj"/>
            </a:avLst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973836" y="2132838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Build reference subspace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973836" y="2297430"/>
            <a:ext cx="38404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Aggregate previous low-rank updates and compute the SVD reference basis.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651510" y="2688336"/>
            <a:ext cx="171450" cy="150876"/>
          </a:xfrm>
          <a:prstGeom prst="chevron">
            <a:avLst>
              <a:gd fmla="val 50000" name="adj"/>
            </a:avLst>
          </a:prstGeom>
          <a:solidFill>
            <a:srgbClr val="B7C0D4"/>
          </a:solidFill>
          <a:ln cap="flat" cmpd="sng" w="12700">
            <a:solidFill>
              <a:srgbClr val="B7C0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62356" y="2825496"/>
            <a:ext cx="178308" cy="178308"/>
          </a:xfrm>
          <a:prstGeom prst="ellipse">
            <a:avLst/>
          </a:prstGeom>
          <a:solidFill>
            <a:srgbClr val="59C4B8"/>
          </a:solidFill>
          <a:ln cap="flat" cmpd="sng" w="12700">
            <a:solidFill>
              <a:srgbClr val="59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562356" y="2832354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822960" y="2804922"/>
            <a:ext cx="4251960" cy="562356"/>
          </a:xfrm>
          <a:prstGeom prst="roundRect">
            <a:avLst>
              <a:gd fmla="val 9756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973836" y="2900934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Regularized client updates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973836" y="3065526"/>
            <a:ext cx="38404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Each client optimizes B_k and A_k while staying near the broadcast reference.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651510" y="3456432"/>
            <a:ext cx="171450" cy="150876"/>
          </a:xfrm>
          <a:prstGeom prst="chevron">
            <a:avLst>
              <a:gd fmla="val 50000" name="adj"/>
            </a:avLst>
          </a:prstGeom>
          <a:solidFill>
            <a:srgbClr val="B7C0D4"/>
          </a:solidFill>
          <a:ln cap="flat" cmpd="sng" w="12700">
            <a:solidFill>
              <a:srgbClr val="B7C0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562356" y="3593592"/>
            <a:ext cx="178308" cy="178308"/>
          </a:xfrm>
          <a:prstGeom prst="ellipse">
            <a:avLst/>
          </a:prstGeom>
          <a:solidFill>
            <a:srgbClr val="F1B464"/>
          </a:solidFill>
          <a:ln cap="flat" cmpd="sng" w="12700">
            <a:solidFill>
              <a:srgbClr val="F1B4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/>
          <p:nvPr/>
        </p:nvSpPr>
        <p:spPr>
          <a:xfrm>
            <a:off x="562356" y="3600450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822960" y="3573018"/>
            <a:ext cx="4251960" cy="562356"/>
          </a:xfrm>
          <a:prstGeom prst="roundRect">
            <a:avLst>
              <a:gd fmla="val 9756" name="adj"/>
            </a:avLst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973836" y="3669030"/>
            <a:ext cx="13716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Aggregate global update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973836" y="3833622"/>
            <a:ext cx="384048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Server averages ΔW_k and updates the global model.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5678424" y="788670"/>
            <a:ext cx="3154680" cy="13716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843016" y="946404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Local optimization target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2" name="Google Shape;2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5010" y="1268730"/>
            <a:ext cx="2743200" cy="44577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2"/>
          <p:cNvSpPr/>
          <p:nvPr/>
        </p:nvSpPr>
        <p:spPr>
          <a:xfrm>
            <a:off x="5863590" y="1748790"/>
            <a:ext cx="270891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extra α-term directly regularizes the basis matrix B_k toward the server basis B_g.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5678424" y="2366010"/>
            <a:ext cx="3154680" cy="1179576"/>
          </a:xfrm>
          <a:prstGeom prst="roundRect">
            <a:avLst>
              <a:gd fmla="val 4651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5843016" y="2523744"/>
            <a:ext cx="257175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What is new relative to standard LoRA-FedAvg?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5863590" y="2811780"/>
            <a:ext cx="68580" cy="68580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5973318" y="2756916"/>
            <a:ext cx="25991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Explicit reference subspace from server-side SVD.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5863590" y="3024378"/>
            <a:ext cx="68580" cy="68580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5973318" y="2969514"/>
            <a:ext cx="25991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Penalty on update mismatch plus optional basis penalty.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5863590" y="3236976"/>
            <a:ext cx="68580" cy="68580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5973318" y="3182112"/>
            <a:ext cx="259918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Goal is directional compatibility, not just smaller drift.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5678424" y="3737610"/>
            <a:ext cx="3154680" cy="685800"/>
          </a:xfrm>
          <a:prstGeom prst="roundRect">
            <a:avLst>
              <a:gd fmla="val 8000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5849874" y="3922776"/>
            <a:ext cx="2708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C4B8"/>
              </a:buClr>
              <a:buSzPts val="800"/>
              <a:buFont typeface="Arial"/>
              <a:buNone/>
            </a:pPr>
            <a:r>
              <a:rPr i="1" lang="en" sz="800">
                <a:solidFill>
                  <a:srgbClr val="59C4B8"/>
                </a:solidFill>
                <a:latin typeface="Arial"/>
                <a:ea typeface="Arial"/>
                <a:cs typeface="Arial"/>
                <a:sym typeface="Arial"/>
              </a:rPr>
              <a:t>Key novelty: regularization acts on the direction of the low-rank update, not just its magnitude — extending FedProx to the geometry of the low-rank manifold.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Experimental design and reported hyperparameters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7955280" y="164592"/>
            <a:ext cx="8915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3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2" name="Google Shape;312;p23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308610" y="740664"/>
            <a:ext cx="2983230" cy="4046220"/>
          </a:xfrm>
          <a:prstGeom prst="roundRect">
            <a:avLst>
              <a:gd fmla="val 183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493776" y="912114"/>
            <a:ext cx="9601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Study design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534924" y="1220724"/>
            <a:ext cx="651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1165860" y="1220724"/>
            <a:ext cx="19065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RoBERTa-large (completed) and SmolLM-360M (completed)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23"/>
          <p:cNvCxnSpPr/>
          <p:nvPr/>
        </p:nvCxnSpPr>
        <p:spPr>
          <a:xfrm>
            <a:off x="534924" y="1577340"/>
            <a:ext cx="240030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23"/>
          <p:cNvSpPr/>
          <p:nvPr/>
        </p:nvSpPr>
        <p:spPr>
          <a:xfrm>
            <a:off x="534924" y="1872234"/>
            <a:ext cx="651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1165860" y="1872234"/>
            <a:ext cx="19065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HellaSwag commonsense reasoning benchmark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" name="Google Shape;320;p23"/>
          <p:cNvCxnSpPr/>
          <p:nvPr/>
        </p:nvCxnSpPr>
        <p:spPr>
          <a:xfrm>
            <a:off x="534924" y="2228850"/>
            <a:ext cx="240030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23"/>
          <p:cNvSpPr/>
          <p:nvPr/>
        </p:nvSpPr>
        <p:spPr>
          <a:xfrm>
            <a:off x="534924" y="2523744"/>
            <a:ext cx="651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Federation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1165860" y="2523744"/>
            <a:ext cx="19065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10 clients; non-IID partitioning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23"/>
          <p:cNvCxnSpPr/>
          <p:nvPr/>
        </p:nvCxnSpPr>
        <p:spPr>
          <a:xfrm>
            <a:off x="534924" y="2880360"/>
            <a:ext cx="240030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23"/>
          <p:cNvSpPr/>
          <p:nvPr/>
        </p:nvSpPr>
        <p:spPr>
          <a:xfrm>
            <a:off x="534924" y="3175254"/>
            <a:ext cx="651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Baselines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1165860" y="3175254"/>
            <a:ext cx="19065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FedAvg, SVD redistribution, FedSVD, proposed Subspace-Reg LoRA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" name="Google Shape;326;p23"/>
          <p:cNvCxnSpPr/>
          <p:nvPr/>
        </p:nvCxnSpPr>
        <p:spPr>
          <a:xfrm>
            <a:off x="534924" y="3531870"/>
            <a:ext cx="240030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3"/>
          <p:cNvSpPr/>
          <p:nvPr/>
        </p:nvSpPr>
        <p:spPr>
          <a:xfrm>
            <a:off x="534924" y="3826764"/>
            <a:ext cx="65151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Diagnostics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1165860" y="3826764"/>
            <a:ext cx="190652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Accuracy, loss, cancellation ratio, client-global cosine, pairwise cosine, basis overlap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534924" y="4114800"/>
            <a:ext cx="2537460" cy="411480"/>
          </a:xfrm>
          <a:prstGeom prst="roundRect">
            <a:avLst>
              <a:gd fmla="val 13333" name="adj"/>
            </a:avLst>
          </a:prstGeom>
          <a:solidFill>
            <a:srgbClr val="FFF5E8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665226" y="4238244"/>
            <a:ext cx="226314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B464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1B464"/>
                </a:solidFill>
                <a:latin typeface="Arial"/>
                <a:ea typeface="Arial"/>
                <a:cs typeface="Arial"/>
                <a:sym typeface="Arial"/>
              </a:rPr>
              <a:t>All 24 runs completed. Results on RoBERTa-large are consistent across 3 seeds; SmolLM-360M reveals model-dependent accuracy gains.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3463290" y="740664"/>
            <a:ext cx="5369814" cy="4046220"/>
          </a:xfrm>
          <a:prstGeom prst="roundRect">
            <a:avLst>
              <a:gd fmla="val 1356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3648456" y="912114"/>
            <a:ext cx="19888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Hyperparameters used in the completed run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3648456" y="1200150"/>
            <a:ext cx="1405890" cy="38404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3703320" y="1213866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Hyperparameter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5054346" y="1200150"/>
            <a:ext cx="685800" cy="38404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109210" y="1213866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5740146" y="1200150"/>
            <a:ext cx="1405890" cy="38404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5795010" y="1213866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Hyperparameter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7146036" y="1200150"/>
            <a:ext cx="685800" cy="38404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7200900" y="1213866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3648456" y="1584198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703320" y="1597914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LoRA rank r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5054346" y="1584198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5109210" y="1597914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5740146" y="1584198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5795010" y="1597914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Basis reg. α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7146036" y="1584198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7200900" y="1597914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0.01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3648456" y="1968246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3703320" y="1981962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Local epochs 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5054346" y="1968246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5109210" y="1981962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5740146" y="1968246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5795010" y="1981962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Clients / round K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3"/>
          <p:cNvSpPr/>
          <p:nvPr/>
        </p:nvSpPr>
        <p:spPr>
          <a:xfrm>
            <a:off x="7146036" y="1968246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7200900" y="1981962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3648456" y="2352294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3703320" y="2366010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Local LR η_l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5054346" y="2352294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5109210" y="2366010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2e-4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740146" y="2352294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795010" y="2366010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Rounds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7146036" y="2352294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200900" y="2366010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3648456" y="2736342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3703320" y="2750058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Global LR η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5054346" y="2736342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5109210" y="2750058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1.0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5740146" y="2736342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795010" y="2750058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Dirichlet β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7146036" y="2736342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200900" y="2750058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3648456" y="3120390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3703320" y="3134106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Alignment μ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5054346" y="3120390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5109210" y="3134106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5740146" y="3120390"/>
            <a:ext cx="140589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5795010" y="3134106"/>
            <a:ext cx="129616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7146036" y="3120390"/>
            <a:ext cx="68580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7200900" y="3134106"/>
            <a:ext cx="5760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3648456" y="3483864"/>
            <a:ext cx="2366010" cy="960120"/>
          </a:xfrm>
          <a:prstGeom prst="roundRect">
            <a:avLst>
              <a:gd fmla="val 5714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3806190" y="3634740"/>
            <a:ext cx="109728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Why these diagnostics?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3806190" y="3826764"/>
            <a:ext cx="2023110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hypothesis is geometric, so accuracy alone is not enough. The paper also measures how compatible client subspaces are during aggregation.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6172200" y="3483864"/>
            <a:ext cx="2297430" cy="960120"/>
          </a:xfrm>
          <a:prstGeom prst="roundRect">
            <a:avLst>
              <a:gd fmla="val 5714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6309360" y="3634740"/>
            <a:ext cx="12344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Reported completed setting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6309360" y="3826764"/>
            <a:ext cx="19888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Both models fully completed: 3 seeds × 4 methods × 2 models = 24 total runs on HellaSwag.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Metrics used to test the hypothesis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7955280" y="164592"/>
            <a:ext cx="8915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p24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24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308610" y="754380"/>
            <a:ext cx="2880360" cy="397764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493776" y="918972"/>
            <a:ext cx="15087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Primary performance metrics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534924" y="1248156"/>
            <a:ext cx="2434590" cy="617220"/>
          </a:xfrm>
          <a:prstGeom prst="roundRect">
            <a:avLst>
              <a:gd fmla="val 8889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651510" y="1337310"/>
            <a:ext cx="13030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Best validation accuracy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651510" y="1508760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Peak performance reached during the run.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534924" y="1954530"/>
            <a:ext cx="2434590" cy="617220"/>
          </a:xfrm>
          <a:prstGeom prst="roundRect">
            <a:avLst>
              <a:gd fmla="val 8889" name="adj"/>
            </a:avLst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651510" y="2043684"/>
            <a:ext cx="13030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Mean last-5 accuracy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651510" y="2215134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Stability near the end of training.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534924" y="2660904"/>
            <a:ext cx="2434590" cy="617220"/>
          </a:xfrm>
          <a:prstGeom prst="roundRect">
            <a:avLst>
              <a:gd fmla="val 8889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651510" y="2750058"/>
            <a:ext cx="13030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Final validation accuracy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651510" y="2921508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Where the model ends after 20 rounds.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534924" y="3367278"/>
            <a:ext cx="2434590" cy="617220"/>
          </a:xfrm>
          <a:prstGeom prst="roundRect">
            <a:avLst>
              <a:gd fmla="val 8889" name="adj"/>
            </a:avLst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651510" y="3456432"/>
            <a:ext cx="130302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Final validation loss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4"/>
          <p:cNvSpPr/>
          <p:nvPr/>
        </p:nvSpPr>
        <p:spPr>
          <a:xfrm>
            <a:off x="651510" y="3627882"/>
            <a:ext cx="2057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Whether the stronger accuracy also corresponds to better objective value.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3360420" y="754380"/>
            <a:ext cx="5472684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3552444" y="918972"/>
            <a:ext cx="13030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Alignment diagnostics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3552444" y="1220724"/>
            <a:ext cx="4972050" cy="630936"/>
          </a:xfrm>
          <a:prstGeom prst="roundRect">
            <a:avLst>
              <a:gd fmla="val 8696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3689604" y="1303020"/>
            <a:ext cx="19202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Cancellation ratio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3689604" y="1481328"/>
            <a:ext cx="44234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How much of the summed local update norm survives aggregation. Near 1 implies constructive aggregation.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3552444" y="1920240"/>
            <a:ext cx="4972050" cy="630936"/>
          </a:xfrm>
          <a:prstGeom prst="roundRect">
            <a:avLst>
              <a:gd fmla="val 8696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3689604" y="2002536"/>
            <a:ext cx="19202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Client-global cosine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689604" y="2180844"/>
            <a:ext cx="44234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Average cosine similarity between each client update and the aggregated global update.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3552444" y="2619756"/>
            <a:ext cx="4972050" cy="630936"/>
          </a:xfrm>
          <a:prstGeom prst="roundRect">
            <a:avLst>
              <a:gd fmla="val 8696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3689604" y="2702052"/>
            <a:ext cx="19202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Pairwise client cosine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3689604" y="2880360"/>
            <a:ext cx="44234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Average mutual agreement among client updates themselves.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3552444" y="3319272"/>
            <a:ext cx="4972050" cy="630936"/>
          </a:xfrm>
          <a:prstGeom prst="roundRect">
            <a:avLst>
              <a:gd fmla="val 8696" name="adj"/>
            </a:avLst>
          </a:prstGeom>
          <a:solidFill>
            <a:srgbClr val="FFF5E8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3689604" y="3401568"/>
            <a:ext cx="192024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Basis overlap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3689604" y="3579876"/>
            <a:ext cx="44234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How closely each client basis B_k aligns with the global reference basis B_g.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4251960" y="4183380"/>
            <a:ext cx="3669030" cy="377190"/>
          </a:xfrm>
          <a:prstGeom prst="roundRect">
            <a:avLst>
              <a:gd fmla="val 14545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4375404" y="4299966"/>
            <a:ext cx="339471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Key finding: Subspace-Reg achieves near-perfect basis overlap (~0.9999) on both models while SVD leads cosine metrics — showing basis overlap is the operative alignment mechanism.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RoBERTa-large results: 3-seed mean accuracy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7955280" y="164592"/>
            <a:ext cx="8915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3" name="Google Shape;433;p25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4" name="Google Shape;434;p25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308610" y="754380"/>
            <a:ext cx="514350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493776" y="918972"/>
            <a:ext cx="202311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3-seed mean accuracy: RoBERTa-large / HellaSwag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ubspace_assets/accuracy_seed42.png" id="437" name="Google Shape;4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1455232"/>
            <a:ext cx="4732020" cy="2637658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5"/>
          <p:cNvSpPr/>
          <p:nvPr/>
        </p:nvSpPr>
        <p:spPr>
          <a:xfrm>
            <a:off x="5589270" y="754380"/>
            <a:ext cx="3257550" cy="3977640"/>
          </a:xfrm>
          <a:prstGeom prst="roundRect">
            <a:avLst>
              <a:gd fmla="val 1684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5774427" y="918975"/>
            <a:ext cx="2310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Full 3-seed comparison (RoBERTa-large)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5795010" y="1220724"/>
            <a:ext cx="2709000" cy="672000"/>
          </a:xfrm>
          <a:prstGeom prst="roundRect">
            <a:avLst>
              <a:gd fmla="val 8163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5952752" y="1330447"/>
            <a:ext cx="1514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Best acc (Subspace-Reg vs best baseline)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7646676" y="1328383"/>
            <a:ext cx="7728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0.454 </a:t>
            </a:r>
            <a:endParaRPr b="1" sz="1400">
              <a:solidFill>
                <a:srgbClr val="8E7BF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endParaRPr b="1" sz="1400">
              <a:solidFill>
                <a:srgbClr val="8E7BF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0.336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5795010" y="2029968"/>
            <a:ext cx="2708910" cy="672084"/>
          </a:xfrm>
          <a:prstGeom prst="roundRect">
            <a:avLst>
              <a:gd fmla="val 8163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5952751" y="2139709"/>
            <a:ext cx="12156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Mean last-5 (Subspace-Reg vs best baseline)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7646676" y="2144407"/>
            <a:ext cx="67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C4B8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59C4B8"/>
                </a:solidFill>
                <a:latin typeface="Arial"/>
                <a:ea typeface="Arial"/>
                <a:cs typeface="Arial"/>
                <a:sym typeface="Arial"/>
              </a:rPr>
              <a:t>0.425 vs 0.321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5795010" y="2839212"/>
            <a:ext cx="2709000" cy="672000"/>
          </a:xfrm>
          <a:prstGeom prst="roundRect">
            <a:avLst>
              <a:gd fmla="val 8163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5952751" y="2948969"/>
            <a:ext cx="12675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Final acc (Subspace-Reg vs best baseline)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7646676" y="3010178"/>
            <a:ext cx="7728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D8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D4D8F"/>
                </a:solidFill>
                <a:latin typeface="Arial"/>
                <a:ea typeface="Arial"/>
                <a:cs typeface="Arial"/>
                <a:sym typeface="Arial"/>
              </a:rPr>
              <a:t>0.429 </a:t>
            </a:r>
            <a:endParaRPr b="1" sz="1400">
              <a:solidFill>
                <a:srgbClr val="1D4D8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D8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D4D8F"/>
                </a:solidFill>
                <a:latin typeface="Arial"/>
                <a:ea typeface="Arial"/>
                <a:cs typeface="Arial"/>
                <a:sym typeface="Arial"/>
              </a:rPr>
              <a:t>vs </a:t>
            </a:r>
            <a:endParaRPr b="1" sz="1400">
              <a:solidFill>
                <a:srgbClr val="1D4D8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D8F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1D4D8F"/>
                </a:solidFill>
                <a:latin typeface="Arial"/>
                <a:ea typeface="Arial"/>
                <a:cs typeface="Arial"/>
                <a:sym typeface="Arial"/>
              </a:rPr>
              <a:t>0.336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5952744" y="3679648"/>
            <a:ext cx="82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6"/>
          <p:cNvSpPr/>
          <p:nvPr/>
        </p:nvSpPr>
        <p:spPr>
          <a:xfrm>
            <a:off x="260604" y="150876"/>
            <a:ext cx="58293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RoBERTa-large results: 3-seed mean accuracy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7955280" y="164592"/>
            <a:ext cx="89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26"/>
          <p:cNvCxnSpPr/>
          <p:nvPr/>
        </p:nvCxnSpPr>
        <p:spPr>
          <a:xfrm>
            <a:off x="260604" y="507492"/>
            <a:ext cx="860670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p26"/>
          <p:cNvSpPr/>
          <p:nvPr/>
        </p:nvSpPr>
        <p:spPr>
          <a:xfrm>
            <a:off x="8819388" y="4882896"/>
            <a:ext cx="1371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308593" y="754375"/>
            <a:ext cx="8835300" cy="397770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493775" y="918974"/>
            <a:ext cx="5112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1500">
                <a:solidFill>
                  <a:srgbClr val="102B52"/>
                </a:solidFill>
              </a:rPr>
              <a:t>Full3-seed comparison (RBERTa-large)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t/>
            </a:r>
            <a:endParaRPr b="1" sz="1700">
              <a:solidFill>
                <a:srgbClr val="102B52"/>
              </a:solidFill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5863727" y="947438"/>
            <a:ext cx="2310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6"/>
          <p:cNvSpPr/>
          <p:nvPr/>
        </p:nvSpPr>
        <p:spPr>
          <a:xfrm>
            <a:off x="7646676" y="2144407"/>
            <a:ext cx="678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C4B8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5952744" y="3679648"/>
            <a:ext cx="8229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4" name="Google Shape;464;p26" title="Screenshot 2026-04-24 at 7.03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775" y="1211025"/>
            <a:ext cx="8039048" cy="32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6"/>
          <p:cNvSpPr/>
          <p:nvPr/>
        </p:nvSpPr>
        <p:spPr>
          <a:xfrm>
            <a:off x="6895700" y="3633550"/>
            <a:ext cx="2060700" cy="964200"/>
          </a:xfrm>
          <a:prstGeom prst="roundRect">
            <a:avLst>
              <a:gd fmla="val 6957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b="1" lang="en">
                <a:solidFill>
                  <a:srgbClr val="334155"/>
                </a:solidFill>
              </a:rPr>
              <a:t>Takeaway:</a:t>
            </a:r>
            <a:endParaRPr b="1">
              <a:solidFill>
                <a:srgbClr val="33415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t/>
            </a:r>
            <a:endParaRPr b="1">
              <a:solidFill>
                <a:srgbClr val="334155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Arial"/>
              <a:buNone/>
            </a:pPr>
            <a:r>
              <a:rPr b="1" lang="en">
                <a:solidFill>
                  <a:srgbClr val="334155"/>
                </a:solidFill>
              </a:rPr>
              <a:t>Subspace-Reg leads on every metric.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7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Alignment diagnostics explain what changed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7955280" y="164592"/>
            <a:ext cx="8915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27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4" name="Google Shape;474;p27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308610" y="754380"/>
            <a:ext cx="517779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493776" y="918972"/>
            <a:ext cx="17145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3-seed mean alignment diagnostics: RoBERTa-large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ubspace_assets/alignment_seed42.png" id="477" name="Google Shape;4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1427666"/>
            <a:ext cx="4766310" cy="262421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7"/>
          <p:cNvSpPr/>
          <p:nvPr/>
        </p:nvSpPr>
        <p:spPr>
          <a:xfrm>
            <a:off x="5609844" y="754380"/>
            <a:ext cx="3236976" cy="1474470"/>
          </a:xfrm>
          <a:prstGeom prst="roundRect">
            <a:avLst>
              <a:gd fmla="val 3721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7"/>
          <p:cNvSpPr/>
          <p:nvPr/>
        </p:nvSpPr>
        <p:spPr>
          <a:xfrm>
            <a:off x="5774436" y="918972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Key insight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7"/>
          <p:cNvSpPr/>
          <p:nvPr/>
        </p:nvSpPr>
        <p:spPr>
          <a:xfrm>
            <a:off x="5774436" y="1193292"/>
            <a:ext cx="270891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SVD wins cosine-based metrics, but Subspace-Reg dominates basis overlap across all 3 seeds on both models  the diagnostic most directly tied to the alignment hypothesis.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5609844" y="2366010"/>
            <a:ext cx="3236976" cy="1097280"/>
          </a:xfrm>
          <a:prstGeom prst="roundRect">
            <a:avLst>
              <a:gd fmla="val 5000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7"/>
          <p:cNvSpPr/>
          <p:nvPr/>
        </p:nvSpPr>
        <p:spPr>
          <a:xfrm>
            <a:off x="5774418" y="2468799"/>
            <a:ext cx="2412000" cy="1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Final loss supports the same story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7"/>
          <p:cNvSpPr/>
          <p:nvPr/>
        </p:nvSpPr>
        <p:spPr>
          <a:xfrm>
            <a:off x="5609844" y="3648456"/>
            <a:ext cx="3236976" cy="809244"/>
          </a:xfrm>
          <a:prstGeom prst="roundRect">
            <a:avLst>
              <a:gd fmla="val 6780" name="adj"/>
            </a:avLst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5774436" y="3806190"/>
            <a:ext cx="6858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7"/>
          <p:cNvSpPr/>
          <p:nvPr/>
        </p:nvSpPr>
        <p:spPr>
          <a:xfrm>
            <a:off x="5774425" y="3991347"/>
            <a:ext cx="2743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700"/>
              <a:buFont typeface="Arial"/>
              <a:buNone/>
            </a:pPr>
            <a:r>
              <a:rPr lang="en" sz="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Basis overlap is consistently ~0.9999 for Subspace-Reg on both RoBERTa-large and SmolLM-360M, versus ~0.958–0.991 for all baselines. This geometric result holds even when accuracy gains are smaller.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6" name="Google Shape;486;p27" title="Screenshot 2026-04-24 at 7.16.5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26" y="2730951"/>
            <a:ext cx="2915124" cy="54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8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SmolLM-360M results: mixed accuracy, consistent alignment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7955280" y="164592"/>
            <a:ext cx="8915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28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28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308610" y="754380"/>
            <a:ext cx="4869180" cy="3977640"/>
          </a:xfrm>
          <a:prstGeom prst="roundRect">
            <a:avLst>
              <a:gd fmla="val 1379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"/>
          <p:cNvSpPr/>
          <p:nvPr/>
        </p:nvSpPr>
        <p:spPr>
          <a:xfrm>
            <a:off x="493776" y="918972"/>
            <a:ext cx="164592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3-seed mean accuracy: SmolLM-360M / HellaSwag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subspace_assets/seed_compare.png" id="498" name="Google Shape;4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1228364"/>
            <a:ext cx="4423410" cy="2577043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8"/>
          <p:cNvSpPr/>
          <p:nvPr/>
        </p:nvSpPr>
        <p:spPr>
          <a:xfrm>
            <a:off x="493776" y="4032504"/>
            <a:ext cx="4217670" cy="377190"/>
          </a:xfrm>
          <a:prstGeom prst="roundRect">
            <a:avLst>
              <a:gd fmla="val 14545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651510" y="4155948"/>
            <a:ext cx="39090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FedAvg leads on accuracy (0.581), while Subspace-Reg retains near-perfect basis overlap (0.9999). Gains from regularization are model-dependent.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5335524" y="754380"/>
            <a:ext cx="3497580" cy="174879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8"/>
          <p:cNvSpPr/>
          <p:nvPr/>
        </p:nvSpPr>
        <p:spPr>
          <a:xfrm>
            <a:off x="5520719" y="918975"/>
            <a:ext cx="2565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3-seed mean results (SmolLM-360M)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5520690" y="1179576"/>
            <a:ext cx="891540" cy="31546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5575554" y="1193292"/>
            <a:ext cx="7818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6412230" y="1179576"/>
            <a:ext cx="548640" cy="31546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6467094" y="1193292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Best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8"/>
          <p:cNvSpPr/>
          <p:nvPr/>
        </p:nvSpPr>
        <p:spPr>
          <a:xfrm>
            <a:off x="6960870" y="1179576"/>
            <a:ext cx="822960" cy="31546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8"/>
          <p:cNvSpPr/>
          <p:nvPr/>
        </p:nvSpPr>
        <p:spPr>
          <a:xfrm>
            <a:off x="7015734" y="1193292"/>
            <a:ext cx="7132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Mean last-5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7783830" y="1179576"/>
            <a:ext cx="548640" cy="315468"/>
          </a:xfrm>
          <a:prstGeom prst="rect">
            <a:avLst/>
          </a:prstGeom>
          <a:solidFill>
            <a:srgbClr val="EEF1F5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7838694" y="1193292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5520690" y="1495044"/>
            <a:ext cx="8915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5575554" y="1508760"/>
            <a:ext cx="7818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FedAvg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6412230" y="1495044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6467094" y="1508760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0.581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6960870" y="1495044"/>
            <a:ext cx="82296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7015734" y="1508760"/>
            <a:ext cx="7132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0.569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7783830" y="1495044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7838694" y="1508760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0.581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5520690" y="1810512"/>
            <a:ext cx="8915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5575554" y="1824228"/>
            <a:ext cx="7818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SVD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6412230" y="1810512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6467094" y="1824228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0.536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6960870" y="1810512"/>
            <a:ext cx="82296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7015734" y="1824228"/>
            <a:ext cx="7132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0.532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7783830" y="1810512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7838694" y="1824228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0.536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5520690" y="2125980"/>
            <a:ext cx="8915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5575554" y="2139696"/>
            <a:ext cx="7818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FedSVD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6412230" y="2125980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6467094" y="2139696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0.521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6960870" y="2125980"/>
            <a:ext cx="82296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7015734" y="2139696"/>
            <a:ext cx="7132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0.519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7783830" y="2125980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7838694" y="2139696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0.521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5520690" y="2441448"/>
            <a:ext cx="8915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5575554" y="2455164"/>
            <a:ext cx="7818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Subspace-Reg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6412230" y="2441448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6467094" y="2455164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0.565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6960870" y="2441448"/>
            <a:ext cx="82296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7015734" y="2455164"/>
            <a:ext cx="71323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0.561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7783830" y="2441448"/>
            <a:ext cx="54864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7838694" y="2455164"/>
            <a:ext cx="43891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0.564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5335450" y="2770649"/>
            <a:ext cx="3531900" cy="218040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5424043" y="2702065"/>
            <a:ext cx="2684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Key observations and discussion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5554918" y="3072409"/>
            <a:ext cx="68700" cy="68700"/>
          </a:xfrm>
          <a:prstGeom prst="ellipse">
            <a:avLst/>
          </a:prstGeom>
          <a:solidFill>
            <a:srgbClr val="E67D8A"/>
          </a:solidFill>
          <a:ln cap="flat" cmpd="sng" w="12700">
            <a:solidFill>
              <a:srgbClr val="E6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5664708" y="3188970"/>
            <a:ext cx="2942082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On RoBERTa-large, Subspace-Reg leads all methods on accuracy AND loss (1.363 vs ~1.382–1.384). On SmolLM-360M, FedAvg leads on accuracy (0.581) and loss (1.108) gains are model-dependent.</a:t>
            </a:r>
            <a:endParaRPr sz="8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334155"/>
              </a:solidFill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5554980" y="3573018"/>
            <a:ext cx="68580" cy="68580"/>
          </a:xfrm>
          <a:prstGeom prst="ellipse">
            <a:avLst/>
          </a:prstGeom>
          <a:solidFill>
            <a:srgbClr val="E67D8A"/>
          </a:solidFill>
          <a:ln cap="flat" cmpd="sng" w="12700">
            <a:solidFill>
              <a:srgbClr val="E6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8"/>
          <p:cNvSpPr/>
          <p:nvPr/>
        </p:nvSpPr>
        <p:spPr>
          <a:xfrm>
            <a:off x="5664708" y="3579892"/>
            <a:ext cx="2942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Basis overlap (~0.9999) is consistently near-perfect for Subspace-Reg on both models, versus ~0.958–0.991 for baselines — the geometric effect is robust.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5554980" y="3953652"/>
            <a:ext cx="68700" cy="68700"/>
          </a:xfrm>
          <a:prstGeom prst="ellipse">
            <a:avLst/>
          </a:prstGeom>
          <a:solidFill>
            <a:srgbClr val="E67D8A"/>
          </a:solidFill>
          <a:ln cap="flat" cmpd="sng" w="12700">
            <a:solidFill>
              <a:srgbClr val="E6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5664708" y="3970763"/>
            <a:ext cx="2942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Future work: ablations on alignment strength μ, additional seeds, and larger models to test whether accuracy gains scale with model capacity.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5554980" y="4334286"/>
            <a:ext cx="68700" cy="68700"/>
          </a:xfrm>
          <a:prstGeom prst="ellipse">
            <a:avLst/>
          </a:prstGeom>
          <a:solidFill>
            <a:srgbClr val="E67D8A"/>
          </a:solidFill>
          <a:ln cap="flat" cmpd="sng" w="12700">
            <a:solidFill>
              <a:srgbClr val="E6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5664708" y="4334272"/>
            <a:ext cx="2942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Tighter theoretical analysis should connect the measured basis overlap improvement to the convergence bound’s 1/μ² penalty term more directly.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8332470" y="1179576"/>
            <a:ext cx="472500" cy="315468"/>
          </a:xfrm>
          <a:prstGeom prst="rect">
            <a:avLst/>
          </a:prstGeom>
          <a:solidFill>
            <a:srgbClr val="1D4D8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8354970" y="1179576"/>
            <a:ext cx="450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Basis Overlap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8332470" y="1495044"/>
            <a:ext cx="47250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8354970" y="1495044"/>
            <a:ext cx="450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0.978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8332470" y="1810512"/>
            <a:ext cx="47250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8354970" y="1810512"/>
            <a:ext cx="450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0.991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8332470" y="2125980"/>
            <a:ext cx="472500" cy="3154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8354970" y="2125980"/>
            <a:ext cx="450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0.968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8332470" y="2441448"/>
            <a:ext cx="472500" cy="315468"/>
          </a:xfrm>
          <a:prstGeom prst="rect">
            <a:avLst/>
          </a:prstGeom>
          <a:solidFill>
            <a:srgbClr val="EEF2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8354970" y="2441448"/>
            <a:ext cx="45000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D8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1D4D8F"/>
                </a:solidFill>
                <a:latin typeface="Arial"/>
                <a:ea typeface="Arial"/>
                <a:cs typeface="Arial"/>
                <a:sym typeface="Arial"/>
              </a:rPr>
              <a:t>0.9999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7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9"/>
          <p:cNvSpPr/>
          <p:nvPr/>
        </p:nvSpPr>
        <p:spPr>
          <a:xfrm>
            <a:off x="260604" y="150876"/>
            <a:ext cx="58293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1700"/>
              <a:buFont typeface="Play"/>
              <a:buNone/>
            </a:pPr>
            <a:r>
              <a:rPr b="1" lang="en" sz="1700">
                <a:solidFill>
                  <a:srgbClr val="102B52"/>
                </a:solidFill>
                <a:latin typeface="Play"/>
                <a:ea typeface="Play"/>
                <a:cs typeface="Play"/>
                <a:sym typeface="Play"/>
              </a:rPr>
              <a:t>Summary and conclusions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9"/>
          <p:cNvSpPr/>
          <p:nvPr/>
        </p:nvSpPr>
        <p:spPr>
          <a:xfrm>
            <a:off x="7955280" y="164592"/>
            <a:ext cx="8915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600"/>
              <a:buFont typeface="Arial"/>
              <a:buNone/>
            </a:pPr>
            <a:r>
              <a:rPr b="1" lang="en" sz="6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29"/>
          <p:cNvCxnSpPr/>
          <p:nvPr/>
        </p:nvCxnSpPr>
        <p:spPr>
          <a:xfrm>
            <a:off x="260604" y="507492"/>
            <a:ext cx="8606790" cy="0"/>
          </a:xfrm>
          <a:prstGeom prst="straightConnector1">
            <a:avLst/>
          </a:prstGeom>
          <a:noFill/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29"/>
          <p:cNvSpPr/>
          <p:nvPr/>
        </p:nvSpPr>
        <p:spPr>
          <a:xfrm>
            <a:off x="8819388" y="4882896"/>
            <a:ext cx="13716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E93A3"/>
              </a:buClr>
              <a:buSzPts val="600"/>
              <a:buFont typeface="Arial"/>
              <a:buNone/>
            </a:pPr>
            <a:r>
              <a:rPr lang="en" sz="600">
                <a:solidFill>
                  <a:srgbClr val="8E93A3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9"/>
          <p:cNvSpPr/>
          <p:nvPr/>
        </p:nvSpPr>
        <p:spPr>
          <a:xfrm>
            <a:off x="514350" y="1097280"/>
            <a:ext cx="1680210" cy="3223260"/>
          </a:xfrm>
          <a:prstGeom prst="roundRect">
            <a:avLst>
              <a:gd fmla="val 3265" name="adj"/>
            </a:avLst>
          </a:prstGeom>
          <a:solidFill>
            <a:srgbClr val="FDECE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9"/>
          <p:cNvSpPr/>
          <p:nvPr/>
        </p:nvSpPr>
        <p:spPr>
          <a:xfrm>
            <a:off x="637794" y="1261872"/>
            <a:ext cx="178308" cy="178308"/>
          </a:xfrm>
          <a:prstGeom prst="ellipse">
            <a:avLst/>
          </a:prstGeom>
          <a:solidFill>
            <a:srgbClr val="E67D8A"/>
          </a:solidFill>
          <a:ln cap="flat" cmpd="sng" w="12700">
            <a:solidFill>
              <a:srgbClr val="E67D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9"/>
          <p:cNvSpPr/>
          <p:nvPr/>
        </p:nvSpPr>
        <p:spPr>
          <a:xfrm>
            <a:off x="637794" y="1268730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9"/>
          <p:cNvSpPr/>
          <p:nvPr/>
        </p:nvSpPr>
        <p:spPr>
          <a:xfrm>
            <a:off x="877824" y="1275588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9"/>
          <p:cNvSpPr/>
          <p:nvPr/>
        </p:nvSpPr>
        <p:spPr>
          <a:xfrm>
            <a:off x="637794" y="1611630"/>
            <a:ext cx="1426464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Heterogeneous clients can learn different low-rank update subspaces, so naive averaging may silently cancel progress.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9"/>
          <p:cNvSpPr/>
          <p:nvPr/>
        </p:nvSpPr>
        <p:spPr>
          <a:xfrm>
            <a:off x="2606040" y="1097280"/>
            <a:ext cx="1680210" cy="3223260"/>
          </a:xfrm>
          <a:prstGeom prst="roundRect">
            <a:avLst>
              <a:gd fmla="val 3265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9"/>
          <p:cNvSpPr/>
          <p:nvPr/>
        </p:nvSpPr>
        <p:spPr>
          <a:xfrm>
            <a:off x="2729484" y="1261872"/>
            <a:ext cx="178308" cy="178308"/>
          </a:xfrm>
          <a:prstGeom prst="ellipse">
            <a:avLst/>
          </a:prstGeom>
          <a:solidFill>
            <a:srgbClr val="8E7BF6"/>
          </a:solidFill>
          <a:ln cap="flat" cmpd="sng" w="12700">
            <a:solidFill>
              <a:srgbClr val="8E7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9"/>
          <p:cNvSpPr/>
          <p:nvPr/>
        </p:nvSpPr>
        <p:spPr>
          <a:xfrm>
            <a:off x="2729484" y="1268730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2969514" y="1275588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9"/>
          <p:cNvSpPr/>
          <p:nvPr/>
        </p:nvSpPr>
        <p:spPr>
          <a:xfrm>
            <a:off x="2729484" y="1611630"/>
            <a:ext cx="1426464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method adds proximal alignment toward a shared global reference subspace, plus basis regularization.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9"/>
          <p:cNvSpPr/>
          <p:nvPr/>
        </p:nvSpPr>
        <p:spPr>
          <a:xfrm>
            <a:off x="4697730" y="1097280"/>
            <a:ext cx="1680210" cy="3223260"/>
          </a:xfrm>
          <a:prstGeom prst="roundRect">
            <a:avLst>
              <a:gd fmla="val 3265" name="adj"/>
            </a:avLst>
          </a:prstGeom>
          <a:solidFill>
            <a:srgbClr val="E9F1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9"/>
          <p:cNvSpPr/>
          <p:nvPr/>
        </p:nvSpPr>
        <p:spPr>
          <a:xfrm>
            <a:off x="4821174" y="1261872"/>
            <a:ext cx="178308" cy="178308"/>
          </a:xfrm>
          <a:prstGeom prst="ellipse">
            <a:avLst/>
          </a:prstGeom>
          <a:solidFill>
            <a:srgbClr val="1D4D8F"/>
          </a:solidFill>
          <a:ln cap="flat" cmpd="sng" w="12700">
            <a:solidFill>
              <a:srgbClr val="1D4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9"/>
          <p:cNvSpPr/>
          <p:nvPr/>
        </p:nvSpPr>
        <p:spPr>
          <a:xfrm>
            <a:off x="4821174" y="1268730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5061204" y="1275588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4821174" y="1611630"/>
            <a:ext cx="1426464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Across 3 seeds on RoBERTa-large, Subspace-Reg leads all baselines on every accuracy metric. On SmolLM-360M, FedAvg leads on accuracy but Subspace-Reg retains ~0.9999 basis overlap on both models.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9"/>
          <p:cNvSpPr/>
          <p:nvPr/>
        </p:nvSpPr>
        <p:spPr>
          <a:xfrm>
            <a:off x="6789420" y="1097280"/>
            <a:ext cx="1680210" cy="3223260"/>
          </a:xfrm>
          <a:prstGeom prst="roundRect">
            <a:avLst>
              <a:gd fmla="val 3265" name="adj"/>
            </a:avLst>
          </a:prstGeom>
          <a:solidFill>
            <a:srgbClr val="E8FBF7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6912864" y="1261872"/>
            <a:ext cx="178308" cy="178308"/>
          </a:xfrm>
          <a:prstGeom prst="ellipse">
            <a:avLst/>
          </a:prstGeom>
          <a:solidFill>
            <a:srgbClr val="59C4B8"/>
          </a:solidFill>
          <a:ln cap="flat" cmpd="sng" w="12700">
            <a:solidFill>
              <a:srgbClr val="59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6912864" y="1268730"/>
            <a:ext cx="178308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7152894" y="1275588"/>
            <a:ext cx="822960" cy="150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B52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102B52"/>
                </a:solidFill>
                <a:latin typeface="Arial"/>
                <a:ea typeface="Arial"/>
                <a:cs typeface="Arial"/>
                <a:sym typeface="Arial"/>
              </a:rPr>
              <a:t>Caveat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6912864" y="1611630"/>
            <a:ext cx="1426464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Arial"/>
              <a:buNone/>
            </a:pPr>
            <a:r>
              <a:rPr lang="en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Accuracy gains are model-dependent: strong on RoBERTa-large, smaller on SmolLM-360M. Basis overlap consistency across both models is the most robust empirical result.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1062990" y="4512564"/>
            <a:ext cx="7029450" cy="288036"/>
          </a:xfrm>
          <a:prstGeom prst="roundRect">
            <a:avLst>
              <a:gd fmla="val 19048" name="adj"/>
            </a:avLst>
          </a:prstGeom>
          <a:solidFill>
            <a:srgbClr val="F0ECFF"/>
          </a:solidFill>
          <a:ln cap="flat" cmpd="sng" w="12700">
            <a:solidFill>
              <a:srgbClr val="D9DDE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12700">
              <a:srgbClr val="000000">
                <a:alpha val="12156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1234440" y="4588002"/>
            <a:ext cx="668655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7BF6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8E7BF6"/>
                </a:solidFill>
                <a:latin typeface="Arial"/>
                <a:ea typeface="Arial"/>
                <a:cs typeface="Arial"/>
                <a:sym typeface="Arial"/>
              </a:rPr>
              <a:t>Bottom line: multi-seed evidence supports the subspace-alignment hypothesis on large encoders; model-dependence of accuracy gains warrants further investigation.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30" title="Screenshot 2026-04-24 at 7.48.2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675" y="152400"/>
            <a:ext cx="5783049" cy="499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